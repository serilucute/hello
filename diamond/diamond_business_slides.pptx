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다이아몬드 비즈니스 전략 인사이트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 기반 의사결정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발표자: AI 에이전트</a:t>
            </a:r>
            <a:r>
              <a:rPr/>
              <a:t> </a:t>
            </a:r>
            <a:r>
              <a:rPr b="1"/>
              <a:t>날짜: 2025년 12월 27일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목차 (Agenda)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분석의 개요</a:t>
            </a:r>
            <a:r>
              <a:rPr/>
              <a:t>: 분석의 목적과 활용 데이터 소개</a:t>
            </a:r>
          </a:p>
          <a:p>
            <a:pPr lvl="0" indent="-342900" marL="342900">
              <a:buAutoNum type="arabicPeriod"/>
            </a:pPr>
            <a:r>
              <a:rPr b="1"/>
              <a:t>주요 발견 1</a:t>
            </a:r>
            <a:r>
              <a:rPr/>
              <a:t>: 가격 결정의 핵심, ‘캐럿’</a:t>
            </a:r>
          </a:p>
          <a:p>
            <a:pPr lvl="0" indent="-342900" marL="342900">
              <a:buAutoNum type="arabicPeriod"/>
            </a:pPr>
            <a:r>
              <a:rPr b="1"/>
              <a:t>주요 발견 2</a:t>
            </a:r>
            <a:r>
              <a:rPr/>
              <a:t>: ‘컷’ 등급의 역설과 그 이면</a:t>
            </a:r>
          </a:p>
          <a:p>
            <a:pPr lvl="0" indent="-342900" marL="342900">
              <a:buAutoNum type="arabicPeriod"/>
            </a:pPr>
            <a:r>
              <a:rPr b="1"/>
              <a:t>주요 발견 3</a:t>
            </a:r>
            <a:r>
              <a:rPr/>
              <a:t>: ‘컬러’ 등급과 소비자의 타협점</a:t>
            </a:r>
          </a:p>
          <a:p>
            <a:pPr lvl="0" indent="-342900" marL="342900">
              <a:buAutoNum type="arabicPeriod"/>
            </a:pPr>
            <a:r>
              <a:rPr b="1"/>
              <a:t>재고 분석</a:t>
            </a:r>
            <a:r>
              <a:rPr/>
              <a:t>: 현재 재고 포트폴리오와 기회</a:t>
            </a:r>
          </a:p>
          <a:p>
            <a:pPr lvl="0" indent="-342900" marL="342900">
              <a:buAutoNum type="arabicPeriod"/>
            </a:pPr>
            <a:r>
              <a:rPr b="1"/>
              <a:t>종합 결론 및 향후 과제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분석의 개요: 목적 및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목적</a:t>
            </a:r>
            <a:r>
              <a:rPr/>
              <a:t>: 다이아몬드 실제 판매 데이터를 분석하여, 가격에 영향을 미치는 핵심 요소를 식별하고 비즈니스 성장을 위한 전략적 인사이트를 도출</a:t>
            </a:r>
          </a:p>
          <a:p>
            <a:pPr lvl="0"/>
            <a:r>
              <a:rPr b="1"/>
              <a:t>기대효과</a:t>
            </a:r>
            <a:r>
              <a:rPr/>
              <a:t>:</a:t>
            </a:r>
          </a:p>
          <a:p>
            <a:pPr lvl="1"/>
            <a:r>
              <a:rPr/>
              <a:t>데이터 기반의 정교한 가격 책정 전략 수립</a:t>
            </a:r>
          </a:p>
          <a:p>
            <a:pPr lvl="1"/>
            <a:r>
              <a:rPr/>
              <a:t>재고 관리 및 마케팅 효율성 증대</a:t>
            </a:r>
          </a:p>
          <a:p>
            <a:pPr lvl="1"/>
            <a:r>
              <a:rPr/>
              <a:t>고객 신뢰도 향상 및 매출 증대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분석의 개요: 활용 데이터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데이터셋</a:t>
            </a:r>
            <a:r>
              <a:rPr/>
              <a:t>: Seaborn ‘diamonds’</a:t>
            </a:r>
          </a:p>
          <a:p>
            <a:pPr lvl="1"/>
            <a:r>
              <a:rPr/>
              <a:t>총 </a:t>
            </a:r>
            <a:r>
              <a:rPr b="1"/>
              <a:t>53,940개</a:t>
            </a:r>
            <a:r>
              <a:rPr/>
              <a:t>의 다이아몬드 판매 데이터</a:t>
            </a:r>
          </a:p>
          <a:p>
            <a:pPr lvl="0"/>
            <a:r>
              <a:rPr b="1"/>
              <a:t>주요 변수</a:t>
            </a:r>
            <a:r>
              <a:rPr/>
              <a:t>:</a:t>
            </a:r>
          </a:p>
          <a:p>
            <a:pPr lvl="1"/>
            <a:r>
              <a:rPr b="1"/>
              <a:t>Price</a:t>
            </a:r>
            <a:r>
              <a:rPr/>
              <a:t>: 가격 (USD 326 ~ 18,823)</a:t>
            </a:r>
          </a:p>
          <a:p>
            <a:pPr lvl="1"/>
            <a:r>
              <a:rPr b="1"/>
              <a:t>Carat</a:t>
            </a:r>
            <a:r>
              <a:rPr/>
              <a:t>: 무게 (0.2 ~ 5.01)</a:t>
            </a:r>
          </a:p>
          <a:p>
            <a:pPr lvl="1"/>
            <a:r>
              <a:rPr b="1"/>
              <a:t>Cut</a:t>
            </a:r>
            <a:r>
              <a:rPr/>
              <a:t>: 컷 등급 (Fair, Good, Very Good, Premium, Ideal)</a:t>
            </a:r>
          </a:p>
          <a:p>
            <a:pPr lvl="1"/>
            <a:r>
              <a:rPr b="1"/>
              <a:t>Color</a:t>
            </a:r>
            <a:r>
              <a:rPr/>
              <a:t>: 컬러 등급 (D, E, F, G, H, I, J)</a:t>
            </a:r>
          </a:p>
          <a:p>
            <a:pPr lvl="1"/>
            <a:r>
              <a:rPr b="1"/>
              <a:t>Clarity</a:t>
            </a:r>
            <a:r>
              <a:rPr/>
              <a:t>: 투명도 등급 (I1, SI2, SI1, VS2, VS1, VVS2, VVS1, IF)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주요 발견 1: 가격 결정의 절대적 요소, ‘캐럿’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“다이아몬드의 가격은 캐럿이 결정한다”</a:t>
            </a:r>
          </a:p>
          <a:p>
            <a:pPr lvl="0" indent="0" marL="0">
              <a:buNone/>
            </a:pPr>
            <a:r>
              <a:rPr/>
              <a:t>캐럿은 가격을 예측하는 가장 강력하고 지배적인 변수입니다. 다른 모든 조건이 동일할 때, 캐럿이 클수록 가격은 기하급수적으로 상승합니다.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데이터가 말해주는 것: 캐럿-가격 상관관계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상관관계 계수: 0.92</a:t>
            </a:r>
          </a:p>
          <a:p>
            <a:pPr lvl="1"/>
            <a:r>
              <a:rPr/>
              <a:t>캐럿과 가격은 매우 강력한 양(+)의 선형 관계를 가짐</a:t>
            </a:r>
          </a:p>
          <a:p>
            <a:pPr lvl="1"/>
            <a:r>
              <a:rPr/>
              <a:t>이는 캐럿이 증가하면 가격도 거의 비례하여 증가함을 의미</a:t>
            </a:r>
          </a:p>
        </p:txBody>
      </p:sp>
      <p:pic>
        <p:nvPicPr>
          <p:cNvPr descr="/workspaces/hello/diamond/images/correlation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03200"/>
            <a:ext cx="510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 상관관계 히트맵: ’carat’과 ’price’가 만나는 지점의 색상이 가장 진하게 나타납니다.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시각적 증거: 캐럿-가격 산점도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캐럿이 증가할수록 가격의 상승폭이 가팔라지는 </a:t>
            </a:r>
            <a:r>
              <a:rPr b="1"/>
              <a:t>지수적(Exponential) 패턴</a:t>
            </a:r>
            <a:r>
              <a:rPr/>
              <a:t>을 보입니다.</a:t>
            </a:r>
          </a:p>
          <a:p>
            <a:pPr lvl="0"/>
            <a:r>
              <a:rPr/>
              <a:t>동일한 캐럿 내에서도 클래리티(색상)에 따라 가격대가 나뉘지만, 캐럿의 영향력에는 미치지 못합니다.</a:t>
            </a:r>
          </a:p>
        </p:txBody>
      </p:sp>
      <p:pic>
        <p:nvPicPr>
          <p:cNvPr descr="/workspaces/hello/diamond/images/carat_price_scat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전략 제언: 캐럿 중심의 가격 정책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전략 1: 캐럿 기반 가격 구간 설정 (Pricing Tier)</a:t>
            </a:r>
          </a:p>
          <a:p>
            <a:pPr lvl="1"/>
            <a:r>
              <a:rPr/>
              <a:t>0.5ct, 1.0ct, 1.5ct 등 주요 캐럿을 기준으로 명확한 가격 정책을 수립하고, 이를 고객에게 투명하게 공개하여 신뢰를 확보합니다.</a:t>
            </a:r>
          </a:p>
          <a:p>
            <a:pPr lvl="0"/>
            <a:r>
              <a:rPr b="1"/>
              <a:t>전략 2: 고객 교육 및 커뮤니케이션 강화</a:t>
            </a:r>
          </a:p>
          <a:p>
            <a:pPr lvl="1"/>
            <a:r>
              <a:rPr/>
              <a:t>“가격의 90%는 캐럿이 결정합니다”와 같은 명확한 메시지를 통해 고객의 가격 이해도를 높이고, 예산에 맞는 합리적인 선택을 유도합니다.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주요 발견 2: ‘컷’ 등급의 역설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“가장 좋은 ‘Ideal’ 컷의 평균 가격이 더 낮다?”</a:t>
            </a:r>
          </a:p>
          <a:p>
            <a:pPr lvl="0" indent="0" marL="0">
              <a:buNone/>
            </a:pPr>
            <a:r>
              <a:rPr/>
              <a:t>데이터상 ‘Ideal’ 컷의 중위 가격이 ‘Premium’이나 ’Fair’ 컷보다 낮게 나타나는 현상이 발견되었습니다. 이는 표면적인 해석에 주의가 필요함을 시사합니다.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현상 분석: 컷 별 가격 분포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박스플롯에서 ‘Ideal’ 컷의 중위값(박스 안의 선)이 다른 등급보다 낮은 위치에 있음을 확인할 수 있습니다.</a:t>
            </a:r>
          </a:p>
          <a:p>
            <a:pPr lvl="0"/>
            <a:r>
              <a:rPr/>
              <a:t>반면, ‘Fair’와 ’Premium’ 등급은 더 높은 가격대에 넓게 분포합니다.</a:t>
            </a:r>
          </a:p>
        </p:txBody>
      </p:sp>
      <p:pic>
        <p:nvPicPr>
          <p:cNvPr descr="/workspaces/hello/diamond/images/price_box_by_cu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원인 분석: 숨겨진 변수, ‘캐럿’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현상의 원인은 </a:t>
            </a:r>
            <a:r>
              <a:rPr b="1"/>
              <a:t>’캐럿’이라는 혼재 변수(Confounding Variable)</a:t>
            </a:r>
            <a:r>
              <a:rPr/>
              <a:t> 때문입니다.</a:t>
            </a:r>
          </a:p>
          <a:p>
            <a:pPr lvl="0"/>
            <a:r>
              <a:rPr b="1"/>
              <a:t>‘Ideal’ 컷</a:t>
            </a:r>
            <a:r>
              <a:rPr/>
              <a:t>: 대중적 수요가 높은 </a:t>
            </a:r>
            <a:r>
              <a:rPr b="1"/>
              <a:t>1캐럿 미만의 작은 다이아몬드</a:t>
            </a:r>
            <a:r>
              <a:rPr/>
              <a:t>에 집중되어 있어 평균 가격이 낮게 형성됩니다.</a:t>
            </a:r>
          </a:p>
          <a:p>
            <a:pPr lvl="0"/>
            <a:r>
              <a:rPr b="1"/>
              <a:t>‘Fair’ / ‘Premium’ 컷</a:t>
            </a:r>
            <a:r>
              <a:rPr/>
              <a:t>: 등급이 낮더라도 </a:t>
            </a:r>
            <a:r>
              <a:rPr b="1"/>
              <a:t>매우 큰 고중량 다이아몬드</a:t>
            </a:r>
            <a:r>
              <a:rPr/>
              <a:t>에서 발견되는 경우가 있어, 이 소수의 고가 상품이 평균 가격을 크게 끌어올립니다.</a:t>
            </a:r>
          </a:p>
          <a:p>
            <a:pPr lvl="0" indent="0" marL="0">
              <a:buNone/>
            </a:pPr>
            <a:r>
              <a:rPr/>
              <a:t>결론: </a:t>
            </a:r>
            <a:r>
              <a:rPr b="1"/>
              <a:t>“컷 등급이 좋다고 비싼 것이 아니라, 비싼 다이아몬드 시장에서는 컷보다 크기가 우선시될 수 있다”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전략 제언: 컷 등급별 타겟 시장 세분화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전략 1: 주력 시장 (Mass Market)</a:t>
            </a:r>
          </a:p>
          <a:p>
            <a:pPr lvl="1"/>
            <a:r>
              <a:rPr b="1"/>
              <a:t>‘Ideal’, ‘Very Good’</a:t>
            </a:r>
            <a:r>
              <a:rPr/>
              <a:t> 등급은 품질과 광채를 중시하는 </a:t>
            </a:r>
            <a:r>
              <a:rPr b="1"/>
              <a:t>1캐럿 미만 시장</a:t>
            </a:r>
            <a:r>
              <a:rPr/>
              <a:t>의 주력 상품으로 포지셔닝하고, 우수한 품질을 적극적으로 홍보합니다.</a:t>
            </a:r>
          </a:p>
          <a:p>
            <a:pPr lvl="0"/>
            <a:r>
              <a:rPr b="1"/>
              <a:t>전략 2: 하이엔드/틈새 시장</a:t>
            </a:r>
          </a:p>
          <a:p>
            <a:pPr lvl="1"/>
            <a:r>
              <a:rPr/>
              <a:t>고중량 다이아몬드 판매 시, 컷 등급이 다소 낮더라도 </a:t>
            </a:r>
            <a:r>
              <a:rPr b="1"/>
              <a:t>크기의 희소성, 디자인적 가치</a:t>
            </a:r>
            <a:r>
              <a:rPr/>
              <a:t>를 강조하여 고객을 설득하는 전략을 구사합니다.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주요 발견 3: ‘컬러’ 등급과 소비자 행동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“소비자는 더 큰 다이아몬드를 위해 컬러를 타협한다”</a:t>
            </a:r>
          </a:p>
          <a:p>
            <a:pPr lvl="0" indent="0" marL="0">
              <a:buNone/>
            </a:pPr>
            <a:r>
              <a:rPr/>
              <a:t>컬러 등급이 낮은(D -&gt; J) 다이아몬드의 평균 가격이 오히려 더 높은 현상이 발견되었습니다. 이 또한 캐럿과의 상호작용으로 설명됩니다.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데이터 인사이트: 컬러-가격 바이올린 플롯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컬러 등급 D, E, F에 비해 G, H, I, J 등급의 가격 분포가 더 높은 구간까지 넓게 퍼져있습니다.</a:t>
            </a:r>
          </a:p>
          <a:p>
            <a:pPr lvl="0"/>
            <a:r>
              <a:rPr/>
              <a:t>이는 소비자들이 한정된 예산 안에서 </a:t>
            </a:r>
            <a:r>
              <a:rPr b="1"/>
              <a:t>크기를 우선시</a:t>
            </a:r>
            <a:r>
              <a:rPr/>
              <a:t>하고, 육안으로 구별이 쉽지 않은 </a:t>
            </a:r>
            <a:r>
              <a:rPr b="1"/>
              <a:t>컬러 등급은 타협</a:t>
            </a:r>
            <a:r>
              <a:rPr/>
              <a:t>하는 경향이 있음을 시사합니다.</a:t>
            </a:r>
          </a:p>
        </p:txBody>
      </p:sp>
      <p:pic>
        <p:nvPicPr>
          <p:cNvPr descr="/workspaces/hello/diamond/images/price_violin_by_col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00100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전략 제언: ‘가성비/가심비’ 마케팅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전략 1: ‘스위트 스팟’ 상품 제안</a:t>
            </a:r>
          </a:p>
          <a:p>
            <a:pPr lvl="1"/>
            <a:r>
              <a:rPr/>
              <a:t>“최상급 D 컬러보다 </a:t>
            </a:r>
            <a:r>
              <a:rPr b="1"/>
              <a:t>눈으로 구별하기 힘든 G 컬러</a:t>
            </a:r>
            <a:r>
              <a:rPr/>
              <a:t>를 선택하고, </a:t>
            </a:r>
            <a:r>
              <a:rPr b="1"/>
              <a:t>남는 예산으로 더 큰 캐럿</a:t>
            </a:r>
            <a:r>
              <a:rPr/>
              <a:t>을 선택하세요” 와 같은 구체적인 가이드를 제공합니다.</a:t>
            </a:r>
          </a:p>
          <a:p>
            <a:pPr lvl="0"/>
            <a:r>
              <a:rPr b="1"/>
              <a:t>전략 2: G/H 컬러 재고 집중</a:t>
            </a:r>
          </a:p>
          <a:p>
            <a:pPr lvl="1"/>
            <a:r>
              <a:rPr/>
              <a:t>G, H 컬러는 합리적인 가격과 수용 가능한 품질의 교차점으로, 가장 수요가 높은 ’스위트 스팟’입니다. 이 등급의 재고를 전략적으로 확보하고 주력 상품으로 판매합니다.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현재 재고 포트폴리오 분석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현재 가장 많은 재고 비중을 차지하는 조합은 </a:t>
            </a:r>
            <a:r>
              <a:rPr b="1"/>
              <a:t>‘Ideal’ 컷 &amp; ‘G’ 컬러</a:t>
            </a:r>
            <a:r>
              <a:rPr/>
              <a:t>입니다.</a:t>
            </a:r>
          </a:p>
          <a:p>
            <a:pPr lvl="0"/>
            <a:r>
              <a:rPr/>
              <a:t>이는 시장의 주력 수요를 반영한 결과로 해석되며, 우리의 핵심 경쟁력이 여기에 있음을 보여줍니다.</a:t>
            </a:r>
          </a:p>
        </p:txBody>
      </p:sp>
      <p:pic>
        <p:nvPicPr>
          <p:cNvPr descr="/workspaces/hello/diamond/images/cut_color_crosstab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전략 제언: 재고 관리 최적화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전략 1: 핵심 재고 강화</a:t>
            </a:r>
          </a:p>
          <a:p>
            <a:pPr lvl="1"/>
            <a:r>
              <a:rPr/>
              <a:t>‘Ideal’ 컷, G/H 컬러, 0.5~1.0 캐럿 사이의 조합은 가장 수요가 높을 것으로 예상되므로, 안정적인 재고 수준을 유지하고 판매 예측 정확도를 높여야 합니다.</a:t>
            </a:r>
          </a:p>
          <a:p>
            <a:pPr lvl="0"/>
            <a:r>
              <a:rPr b="1"/>
              <a:t>전략 2: 틈새 시장 공략</a:t>
            </a:r>
          </a:p>
          <a:p>
            <a:pPr lvl="1"/>
            <a:r>
              <a:rPr/>
              <a:t>‘Fair’ 컷, ‘I/J’ 컬러 등 비주류 재고는 </a:t>
            </a:r>
            <a:r>
              <a:rPr b="1"/>
              <a:t>빈티지 디자인, 특별 할인 상품</a:t>
            </a:r>
            <a:r>
              <a:rPr/>
              <a:t> 등 특정 테마와 결합하여 가치를 재창출하는 전략을 고려할 수 있습니다.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종합 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Carat is King</a:t>
            </a:r>
            <a:r>
              <a:rPr/>
              <a:t>: 다이아몬드 가격의 90% 이상은 캐럿이 결정합니다.</a:t>
            </a:r>
          </a:p>
          <a:p>
            <a:pPr lvl="0"/>
            <a:r>
              <a:rPr b="1"/>
              <a:t>Confounding Effect</a:t>
            </a:r>
            <a:r>
              <a:rPr/>
              <a:t>: 컷, 컬러와 가격의 관계는 캐럿과의 상호작용을 이해해야만 올바르게 해석할 수 있습니다. 단순 평균 가격 비교는 의사결정을 왜곡시킬 수 있습니다.</a:t>
            </a:r>
          </a:p>
          <a:p>
            <a:pPr lvl="0"/>
            <a:r>
              <a:rPr b="1"/>
              <a:t>Consumer Behavior</a:t>
            </a:r>
            <a:r>
              <a:rPr/>
              <a:t>: 소비자는 ’크기’를 최우선으로 고려하며, 예산 내에서 다른 품질(컬러, 컷)을 타협하는 경향이 뚜렷합니다.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향후 과제: 예측 모델 도입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“단순 분석을 넘어, 과학적 예측으로”</a:t>
            </a:r>
          </a:p>
          <a:p>
            <a:pPr lvl="0" indent="0" marL="0">
              <a:buNone/>
            </a:pPr>
            <a:r>
              <a:rPr/>
              <a:t>정확한 가치 평가와 가격 책정을 위해 </a:t>
            </a:r>
            <a:r>
              <a:rPr b="1"/>
              <a:t>머신러닝 기반의 가격 예측 모델 도입</a:t>
            </a:r>
            <a:r>
              <a:rPr/>
              <a:t>을 제안합니다.</a:t>
            </a:r>
          </a:p>
          <a:p>
            <a:pPr lvl="0"/>
            <a:r>
              <a:rPr b="1"/>
              <a:t>기대 효과</a:t>
            </a:r>
            <a:r>
              <a:rPr/>
              <a:t>:</a:t>
            </a:r>
          </a:p>
          <a:p>
            <a:pPr lvl="1"/>
            <a:r>
              <a:rPr b="1"/>
              <a:t>일관성</a:t>
            </a:r>
            <a:r>
              <a:rPr/>
              <a:t>: 모든 변수(4C)를 종합적으로 고려한 객관적이고 일관된 가격 제시</a:t>
            </a:r>
          </a:p>
          <a:p>
            <a:pPr lvl="1"/>
            <a:r>
              <a:rPr b="1"/>
              <a:t>수익성</a:t>
            </a:r>
            <a:r>
              <a:rPr/>
              <a:t>: 개별 다이아몬드의 잠재 가치를 정확히 평가하여 매입/판매 협상력 증대</a:t>
            </a:r>
          </a:p>
          <a:p>
            <a:pPr lvl="1"/>
            <a:r>
              <a:rPr b="1"/>
              <a:t>신뢰성</a:t>
            </a:r>
            <a:r>
              <a:rPr/>
              <a:t>: 데이터 기반의 투명한 가격 정책으로 고객 신뢰 확보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경청하고 답변드리겠습니다.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2025-12-27T07:28:12Z</dcterms:created>
  <dcterms:modified xsi:type="dcterms:W3CDTF">2025-12-27T07:28:12Z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